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" ContentType="image/tif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8" r:id="rId3"/>
    <p:sldId id="264" r:id="rId4"/>
    <p:sldId id="259" r:id="rId5"/>
    <p:sldId id="267" r:id="rId6"/>
    <p:sldId id="268" r:id="rId7"/>
    <p:sldId id="269" r:id="rId8"/>
    <p:sldId id="270" r:id="rId9"/>
    <p:sldId id="271" r:id="rId10"/>
    <p:sldId id="272" r:id="rId11"/>
    <p:sldId id="277" r:id="rId12"/>
    <p:sldId id="273" r:id="rId13"/>
    <p:sldId id="274" r:id="rId14"/>
    <p:sldId id="275" r:id="rId15"/>
    <p:sldId id="276" r:id="rId16"/>
  </p:sldIdLst>
  <p:sldSz cx="10693400" cy="7559675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2B presentation" id="{E70480CC-A021-8B40-936E-5677315C6A7B}">
          <p14:sldIdLst>
            <p14:sldId id="256"/>
            <p14:sldId id="258"/>
            <p14:sldId id="264"/>
            <p14:sldId id="259"/>
            <p14:sldId id="267"/>
            <p14:sldId id="268"/>
            <p14:sldId id="269"/>
            <p14:sldId id="270"/>
            <p14:sldId id="271"/>
            <p14:sldId id="272"/>
            <p14:sldId id="277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79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veed Kapadia" initials="NK" lastIdx="1" clrIdx="0">
    <p:extLst/>
  </p:cmAuthor>
  <p:cmAuthor id="2" name="Naveed Kapadia" initials="NK [2]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E42212"/>
    <a:srgbClr val="191B26"/>
    <a:srgbClr val="F0F0F1"/>
    <a:srgbClr val="00020E"/>
    <a:srgbClr val="3B3C45"/>
    <a:srgbClr val="1320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45" autoAdjust="0"/>
    <p:restoredTop sz="93899" autoAdjust="0"/>
  </p:normalViewPr>
  <p:slideViewPr>
    <p:cSldViewPr>
      <p:cViewPr varScale="1">
        <p:scale>
          <a:sx n="59" d="100"/>
          <a:sy n="59" d="100"/>
        </p:scale>
        <p:origin x="760" y="52"/>
      </p:cViewPr>
      <p:guideLst>
        <p:guide orient="horz" pos="2879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0" d="100"/>
          <a:sy n="120" d="100"/>
        </p:scale>
        <p:origin x="1168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EBCFC-249E-3E4E-9FFE-601955776A13}" type="datetimeFigureOut">
              <a:rPr lang="en-US" smtClean="0"/>
              <a:t>10/2/2017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10284-5DE5-0E40-B52E-03AD3C43C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5178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 Regular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 Regular" charset="0"/>
              </a:defRPr>
            </a:lvl1pPr>
          </a:lstStyle>
          <a:p>
            <a:fld id="{287A34FB-BA2A-DF41-88E8-1188E205D7DB}" type="datetimeFigureOut">
              <a:rPr lang="en-US" smtClean="0"/>
              <a:pPr/>
              <a:t>10/2/2017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 Regular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 Regular" charset="0"/>
              </a:defRPr>
            </a:lvl1pPr>
          </a:lstStyle>
          <a:p>
            <a:fld id="{3EB04E58-F4DB-2649-A767-E80EDBCF4F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953044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 Regular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 Regular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 Regular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 Regular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 Regular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4E58-F4DB-2649-A767-E80EDBCF4F1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04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4E58-F4DB-2649-A767-E80EDBCF4F1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88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04E58-F4DB-2649-A767-E80EDBCF4F1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755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 userDrawn="1"/>
        </p:nvSpPr>
        <p:spPr>
          <a:xfrm>
            <a:off x="0" y="0"/>
            <a:ext cx="10691990" cy="75600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b="0" i="0">
              <a:latin typeface="Arial Regular" charset="0"/>
            </a:endParaRP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714" y="2411685"/>
            <a:ext cx="2366738" cy="354862"/>
          </a:xfrm>
          <a:prstGeom prst="rect">
            <a:avLst/>
          </a:prstGeom>
        </p:spPr>
      </p:pic>
      <p:sp>
        <p:nvSpPr>
          <p:cNvPr id="12" name="Title Placeholder 14"/>
          <p:cNvSpPr>
            <a:spLocks noGrp="1"/>
          </p:cNvSpPr>
          <p:nvPr>
            <p:ph type="title" hasCustomPrompt="1"/>
          </p:nvPr>
        </p:nvSpPr>
        <p:spPr>
          <a:xfrm>
            <a:off x="747714" y="3195227"/>
            <a:ext cx="3227387" cy="830997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>
            <a:lvl1pPr>
              <a:lnSpc>
                <a:spcPct val="150000"/>
              </a:lnSpc>
              <a:defRPr sz="1600" baseline="0"/>
            </a:lvl1pPr>
          </a:lstStyle>
          <a:p>
            <a:r>
              <a:rPr lang="en-US" dirty="0"/>
              <a:t>LESSON NUMBER</a:t>
            </a:r>
            <a:br>
              <a:rPr lang="en-US" dirty="0"/>
            </a:br>
            <a:r>
              <a:rPr lang="en-US" dirty="0"/>
              <a:t>SUBJECT</a:t>
            </a:r>
          </a:p>
        </p:txBody>
      </p:sp>
    </p:spTree>
    <p:extLst>
      <p:ext uri="{BB962C8B-B14F-4D97-AF65-F5344CB8AC3E}">
        <p14:creationId xmlns:p14="http://schemas.microsoft.com/office/powerpoint/2010/main" val="1328292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0679E-E221-2143-8F37-247D7C7B04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REF (PAD PILOT CHAPTER NAME AND NUMBER)</a:t>
            </a:r>
          </a:p>
        </p:txBody>
      </p:sp>
      <p:sp>
        <p:nvSpPr>
          <p:cNvPr id="5" name="object 26"/>
          <p:cNvSpPr/>
          <p:nvPr userDrawn="1"/>
        </p:nvSpPr>
        <p:spPr>
          <a:xfrm>
            <a:off x="1" y="2317969"/>
            <a:ext cx="404495" cy="1070795"/>
          </a:xfrm>
          <a:custGeom>
            <a:avLst/>
            <a:gdLst/>
            <a:ahLst/>
            <a:cxnLst/>
            <a:rect l="l" t="t" r="r" b="b"/>
            <a:pathLst>
              <a:path w="404495" h="1071245">
                <a:moveTo>
                  <a:pt x="0" y="0"/>
                </a:moveTo>
                <a:lnTo>
                  <a:pt x="0" y="1070823"/>
                </a:lnTo>
                <a:lnTo>
                  <a:pt x="403893" y="535410"/>
                </a:lnTo>
                <a:lnTo>
                  <a:pt x="0" y="0"/>
                </a:lnTo>
                <a:close/>
              </a:path>
            </a:pathLst>
          </a:custGeom>
          <a:solidFill>
            <a:srgbClr val="E42313"/>
          </a:solidFill>
        </p:spPr>
        <p:txBody>
          <a:bodyPr wrap="square" lIns="0" tIns="0" rIns="0" bIns="0" rtlCol="0"/>
          <a:lstStyle/>
          <a:p>
            <a:endParaRPr sz="1799" b="0" i="0">
              <a:latin typeface="Arial Regular" charset="0"/>
            </a:endParaRPr>
          </a:p>
        </p:txBody>
      </p:sp>
      <p:sp>
        <p:nvSpPr>
          <p:cNvPr id="6" name="object 3"/>
          <p:cNvSpPr/>
          <p:nvPr userDrawn="1"/>
        </p:nvSpPr>
        <p:spPr>
          <a:xfrm>
            <a:off x="5506021" y="552585"/>
            <a:ext cx="5185981" cy="7005502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99" b="0" i="0">
              <a:latin typeface="Arial Regular" charset="0"/>
            </a:endParaRPr>
          </a:p>
        </p:txBody>
      </p:sp>
      <p:sp>
        <p:nvSpPr>
          <p:cNvPr id="7" name="object 4"/>
          <p:cNvSpPr/>
          <p:nvPr userDrawn="1"/>
        </p:nvSpPr>
        <p:spPr>
          <a:xfrm>
            <a:off x="8607463" y="12"/>
            <a:ext cx="2084539" cy="2815905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799" b="0" i="0">
              <a:latin typeface="Arial Regular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11087" y="6858107"/>
            <a:ext cx="1646570" cy="248925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1247301" y="960437"/>
            <a:ext cx="5013800" cy="478914"/>
          </a:xfrm>
        </p:spPr>
        <p:txBody>
          <a:bodyPr/>
          <a:lstStyle/>
          <a:p>
            <a:r>
              <a:rPr lang="en-US" dirty="0"/>
              <a:t>SUBJECT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3" hasCustomPrompt="1"/>
          </p:nvPr>
        </p:nvSpPr>
        <p:spPr>
          <a:xfrm>
            <a:off x="1247775" y="2232025"/>
            <a:ext cx="4708525" cy="4054475"/>
          </a:xfrm>
        </p:spPr>
        <p:txBody>
          <a:bodyPr lIns="0" tIns="0" rIns="0" bIns="0">
            <a:normAutofit/>
          </a:bodyPr>
          <a:lstStyle>
            <a:lvl1pPr marL="0" indent="0">
              <a:buFont typeface="Arial" charset="0"/>
              <a:buNone/>
              <a:defRPr sz="1600" b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TOPICS &amp; LEARNING OUTCOMES</a:t>
            </a:r>
          </a:p>
        </p:txBody>
      </p:sp>
    </p:spTree>
    <p:extLst>
      <p:ext uri="{BB962C8B-B14F-4D97-AF65-F5344CB8AC3E}">
        <p14:creationId xmlns:p14="http://schemas.microsoft.com/office/powerpoint/2010/main" val="2097423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47301" y="960437"/>
            <a:ext cx="5013800" cy="478914"/>
          </a:xfrm>
        </p:spPr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0679E-E221-2143-8F37-247D7C7B04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REF (PAD PILOT CHAPTER NAME AND NUMBER)</a:t>
            </a:r>
          </a:p>
        </p:txBody>
      </p:sp>
      <p:sp>
        <p:nvSpPr>
          <p:cNvPr id="6" name="object 26"/>
          <p:cNvSpPr/>
          <p:nvPr userDrawn="1"/>
        </p:nvSpPr>
        <p:spPr>
          <a:xfrm>
            <a:off x="1" y="2317969"/>
            <a:ext cx="404495" cy="1070795"/>
          </a:xfrm>
          <a:custGeom>
            <a:avLst/>
            <a:gdLst/>
            <a:ahLst/>
            <a:cxnLst/>
            <a:rect l="l" t="t" r="r" b="b"/>
            <a:pathLst>
              <a:path w="404495" h="1071245">
                <a:moveTo>
                  <a:pt x="0" y="0"/>
                </a:moveTo>
                <a:lnTo>
                  <a:pt x="0" y="1070823"/>
                </a:lnTo>
                <a:lnTo>
                  <a:pt x="403893" y="535410"/>
                </a:lnTo>
                <a:lnTo>
                  <a:pt x="0" y="0"/>
                </a:lnTo>
                <a:close/>
              </a:path>
            </a:pathLst>
          </a:custGeom>
          <a:solidFill>
            <a:srgbClr val="E42313"/>
          </a:solidFill>
        </p:spPr>
        <p:txBody>
          <a:bodyPr wrap="square" lIns="0" tIns="0" rIns="0" bIns="0" rtlCol="0"/>
          <a:lstStyle/>
          <a:p>
            <a:endParaRPr sz="1799" b="0" i="0">
              <a:latin typeface="Arial Regular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82" y="6860156"/>
            <a:ext cx="1645732" cy="246756"/>
          </a:xfrm>
          <a:prstGeom prst="rect">
            <a:avLst/>
          </a:prstGeom>
        </p:spPr>
      </p:pic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1247775" y="2232000"/>
            <a:ext cx="8059365" cy="4062438"/>
          </a:xfrm>
        </p:spPr>
        <p:txBody>
          <a:bodyPr lIns="0" tIns="0" bIns="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4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1461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0679E-E221-2143-8F37-247D7C7B04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REF (PAD PILOT CHAPTER NAME AND NUMBER)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82" y="6860156"/>
            <a:ext cx="1645732" cy="246756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247301" y="960437"/>
            <a:ext cx="5013800" cy="478914"/>
          </a:xfrm>
        </p:spPr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418708" y="2232025"/>
            <a:ext cx="3887958" cy="4054475"/>
          </a:xfrm>
        </p:spPr>
        <p:txBody>
          <a:bodyPr/>
          <a:lstStyle/>
          <a:p>
            <a:r>
              <a:rPr lang="en-GB" dirty="0"/>
              <a:t>IMAGE 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type="body" sz="quarter" idx="13" hasCustomPrompt="1"/>
          </p:nvPr>
        </p:nvSpPr>
        <p:spPr>
          <a:xfrm>
            <a:off x="1247775" y="2232025"/>
            <a:ext cx="3882901" cy="4054475"/>
          </a:xfrm>
        </p:spPr>
        <p:txBody>
          <a:bodyPr lIns="0" tIns="0" rIns="0" bIns="0">
            <a:normAutofit/>
          </a:bodyPr>
          <a:lstStyle>
            <a:lvl1pPr marL="0" indent="0">
              <a:buFont typeface="Arial" charset="0"/>
              <a:buNone/>
              <a:defRPr sz="1600" b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TOPICS &amp; LEARNING OUTCOMES</a:t>
            </a:r>
          </a:p>
        </p:txBody>
      </p:sp>
    </p:spTree>
    <p:extLst>
      <p:ext uri="{BB962C8B-B14F-4D97-AF65-F5344CB8AC3E}">
        <p14:creationId xmlns:p14="http://schemas.microsoft.com/office/powerpoint/2010/main" val="1726046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0679E-E221-2143-8F37-247D7C7B04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03812" y="6990467"/>
            <a:ext cx="3609975" cy="227259"/>
          </a:xfrm>
        </p:spPr>
        <p:txBody>
          <a:bodyPr/>
          <a:lstStyle/>
          <a:p>
            <a:r>
              <a:rPr lang="en-US" dirty="0"/>
              <a:t>REF (PAD PILOT CHAPTER NAME AND NUMBER)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82" y="6860156"/>
            <a:ext cx="1645732" cy="24675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247301" y="960437"/>
            <a:ext cx="5013800" cy="478914"/>
          </a:xfrm>
        </p:spPr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418708" y="2232025"/>
            <a:ext cx="3887958" cy="1930598"/>
          </a:xfrm>
        </p:spPr>
        <p:txBody>
          <a:bodyPr/>
          <a:lstStyle/>
          <a:p>
            <a:r>
              <a:rPr lang="en-GB" dirty="0"/>
              <a:t>IMAGE 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type="body" sz="quarter" idx="13" hasCustomPrompt="1"/>
          </p:nvPr>
        </p:nvSpPr>
        <p:spPr>
          <a:xfrm>
            <a:off x="1247775" y="2232025"/>
            <a:ext cx="3882901" cy="4054475"/>
          </a:xfrm>
        </p:spPr>
        <p:txBody>
          <a:bodyPr lIns="0" tIns="0" rIns="0" bIns="0">
            <a:normAutofit/>
          </a:bodyPr>
          <a:lstStyle>
            <a:lvl1pPr marL="0" indent="0">
              <a:buFont typeface="Arial" charset="0"/>
              <a:buNone/>
              <a:defRPr sz="1600" b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TOPICS &amp; LEARNING OUTCOMES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5418708" y="4355902"/>
            <a:ext cx="3887958" cy="1930598"/>
          </a:xfrm>
        </p:spPr>
        <p:txBody>
          <a:bodyPr/>
          <a:lstStyle/>
          <a:p>
            <a:r>
              <a:rPr lang="en-GB" dirty="0"/>
              <a:t>IMAGE </a:t>
            </a:r>
          </a:p>
        </p:txBody>
      </p:sp>
    </p:spTree>
    <p:extLst>
      <p:ext uri="{BB962C8B-B14F-4D97-AF65-F5344CB8AC3E}">
        <p14:creationId xmlns:p14="http://schemas.microsoft.com/office/powerpoint/2010/main" val="1873687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0679E-E221-2143-8F37-247D7C7B04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REF (PAD PILOT CHAPTER NAME AND NUMBER)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82" y="6860156"/>
            <a:ext cx="1645732" cy="246756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247301" y="960437"/>
            <a:ext cx="5013800" cy="478914"/>
          </a:xfrm>
        </p:spPr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47301" y="2232025"/>
            <a:ext cx="3887958" cy="4054475"/>
          </a:xfrm>
        </p:spPr>
        <p:txBody>
          <a:bodyPr/>
          <a:lstStyle/>
          <a:p>
            <a:r>
              <a:rPr lang="en-GB" dirty="0"/>
              <a:t>IMAGE 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type="body" sz="quarter" idx="13" hasCustomPrompt="1"/>
          </p:nvPr>
        </p:nvSpPr>
        <p:spPr>
          <a:xfrm>
            <a:off x="5418708" y="2232025"/>
            <a:ext cx="3882901" cy="4054475"/>
          </a:xfrm>
        </p:spPr>
        <p:txBody>
          <a:bodyPr lIns="0" tIns="0" rIns="0" bIns="0">
            <a:normAutofit/>
          </a:bodyPr>
          <a:lstStyle>
            <a:lvl1pPr marL="0" indent="0">
              <a:buFont typeface="Arial" charset="0"/>
              <a:buNone/>
              <a:defRPr sz="1600" b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TOPICS &amp; LEARNING OUTCOMES</a:t>
            </a:r>
          </a:p>
        </p:txBody>
      </p:sp>
    </p:spTree>
    <p:extLst>
      <p:ext uri="{BB962C8B-B14F-4D97-AF65-F5344CB8AC3E}">
        <p14:creationId xmlns:p14="http://schemas.microsoft.com/office/powerpoint/2010/main" val="1482745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0679E-E221-2143-8F37-247D7C7B04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03812" y="6990467"/>
            <a:ext cx="3609975" cy="227259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REF (PAD PILOT CHAPTER NAME AND NUMBER)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82" y="6860156"/>
            <a:ext cx="1645732" cy="24675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247301" y="960437"/>
            <a:ext cx="5013800" cy="478914"/>
          </a:xfrm>
        </p:spPr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47301" y="4355902"/>
            <a:ext cx="3887958" cy="1930598"/>
          </a:xfrm>
        </p:spPr>
        <p:txBody>
          <a:bodyPr/>
          <a:lstStyle/>
          <a:p>
            <a:r>
              <a:rPr lang="en-GB" dirty="0"/>
              <a:t>IMAGE 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type="body" sz="quarter" idx="13" hasCustomPrompt="1"/>
          </p:nvPr>
        </p:nvSpPr>
        <p:spPr>
          <a:xfrm>
            <a:off x="5418708" y="2232025"/>
            <a:ext cx="3882901" cy="4054475"/>
          </a:xfrm>
        </p:spPr>
        <p:txBody>
          <a:bodyPr lIns="0" tIns="0" rIns="0" bIns="0">
            <a:normAutofit/>
          </a:bodyPr>
          <a:lstStyle>
            <a:lvl1pPr marL="0" indent="0">
              <a:buFont typeface="Arial" charset="0"/>
              <a:buNone/>
              <a:defRPr sz="1600" b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TOPICS &amp; LEARNING OUTCOMES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1247301" y="2232025"/>
            <a:ext cx="3887958" cy="1930598"/>
          </a:xfrm>
        </p:spPr>
        <p:txBody>
          <a:bodyPr/>
          <a:lstStyle/>
          <a:p>
            <a:r>
              <a:rPr lang="en-GB" dirty="0"/>
              <a:t>IMAGE </a:t>
            </a:r>
          </a:p>
        </p:txBody>
      </p:sp>
    </p:spTree>
    <p:extLst>
      <p:ext uri="{BB962C8B-B14F-4D97-AF65-F5344CB8AC3E}">
        <p14:creationId xmlns:p14="http://schemas.microsoft.com/office/powerpoint/2010/main" val="592344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555012" y="6990468"/>
            <a:ext cx="309562" cy="22725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800" b="0" i="0">
                <a:solidFill>
                  <a:srgbClr val="898989"/>
                </a:solidFill>
                <a:latin typeface="Arial Regular" charset="0"/>
              </a:defRPr>
            </a:lvl1pPr>
          </a:lstStyle>
          <a:p>
            <a:fld id="{F600679E-E221-2143-8F37-247D7C7B04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Placeholder 14"/>
          <p:cNvSpPr>
            <a:spLocks noGrp="1"/>
          </p:cNvSpPr>
          <p:nvPr>
            <p:ph type="title"/>
          </p:nvPr>
        </p:nvSpPr>
        <p:spPr>
          <a:xfrm>
            <a:off x="1103812" y="967262"/>
            <a:ext cx="5013800" cy="836126"/>
          </a:xfrm>
          <a:prstGeom prst="rect">
            <a:avLst/>
          </a:prstGeom>
        </p:spPr>
        <p:txBody>
          <a:bodyPr vert="horz" lIns="0" tIns="45720" rIns="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3"/>
          </p:nvPr>
        </p:nvSpPr>
        <p:spPr>
          <a:xfrm>
            <a:off x="1103812" y="6990467"/>
            <a:ext cx="3609975" cy="227259"/>
          </a:xfrm>
          <a:prstGeom prst="rect">
            <a:avLst/>
          </a:prstGeom>
        </p:spPr>
        <p:txBody>
          <a:bodyPr vert="horz" lIns="0" tIns="45720" rIns="0" bIns="45720" rtlCol="0" anchor="ctr" anchorCtr="0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Arial Regular" charset="0"/>
              </a:defRPr>
            </a:lvl1pPr>
          </a:lstStyle>
          <a:p>
            <a:r>
              <a:rPr lang="en-US"/>
              <a:t>AIRWAYSAVIATION.COM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idx="1"/>
          </p:nvPr>
        </p:nvSpPr>
        <p:spPr>
          <a:xfrm>
            <a:off x="1103812" y="2145563"/>
            <a:ext cx="5013801" cy="4291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object 26"/>
          <p:cNvSpPr/>
          <p:nvPr userDrawn="1"/>
        </p:nvSpPr>
        <p:spPr>
          <a:xfrm>
            <a:off x="1" y="2317969"/>
            <a:ext cx="404495" cy="1070795"/>
          </a:xfrm>
          <a:custGeom>
            <a:avLst/>
            <a:gdLst/>
            <a:ahLst/>
            <a:cxnLst/>
            <a:rect l="l" t="t" r="r" b="b"/>
            <a:pathLst>
              <a:path w="404495" h="1071245">
                <a:moveTo>
                  <a:pt x="0" y="0"/>
                </a:moveTo>
                <a:lnTo>
                  <a:pt x="0" y="1070823"/>
                </a:lnTo>
                <a:lnTo>
                  <a:pt x="403893" y="535410"/>
                </a:lnTo>
                <a:lnTo>
                  <a:pt x="0" y="0"/>
                </a:lnTo>
                <a:close/>
              </a:path>
            </a:pathLst>
          </a:custGeom>
          <a:solidFill>
            <a:srgbClr val="E42313"/>
          </a:solidFill>
        </p:spPr>
        <p:txBody>
          <a:bodyPr wrap="square" lIns="0" tIns="0" rIns="0" bIns="0" rtlCol="0"/>
          <a:lstStyle/>
          <a:p>
            <a:endParaRPr sz="1799" b="0" i="0">
              <a:latin typeface="Arial Regular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97" r:id="rId2"/>
    <p:sldLayoutId id="2147483699" r:id="rId3"/>
    <p:sldLayoutId id="2147483700" r:id="rId4"/>
    <p:sldLayoutId id="2147483702" r:id="rId5"/>
    <p:sldLayoutId id="2147483701" r:id="rId6"/>
    <p:sldLayoutId id="2147483703" r:id="rId7"/>
  </p:sldLayoutIdLst>
  <p:hf hdr="0" dt="0"/>
  <p:txStyles>
    <p:titleStyle>
      <a:lvl1pPr eaLnBrk="1" fontAlgn="t" hangingPunct="1">
        <a:lnSpc>
          <a:spcPts val="2859"/>
        </a:lnSpc>
        <a:defRPr sz="2799" b="0" i="0">
          <a:solidFill>
            <a:srgbClr val="898989"/>
          </a:solidFill>
          <a:latin typeface="Arial Regular" charset="0"/>
          <a:ea typeface="+mj-ea"/>
          <a:cs typeface="+mj-cs"/>
        </a:defRPr>
      </a:lvl1pPr>
    </p:titleStyle>
    <p:bodyStyle>
      <a:lvl1pPr marL="0" eaLnBrk="1" hangingPunct="1">
        <a:spcBef>
          <a:spcPts val="0"/>
        </a:spcBef>
        <a:spcAft>
          <a:spcPts val="1200"/>
        </a:spcAft>
        <a:defRPr sz="1050" b="0" i="0" baseline="0">
          <a:solidFill>
            <a:schemeClr val="tx1"/>
          </a:solidFill>
          <a:latin typeface="+mn-lt"/>
          <a:ea typeface="+mn-ea"/>
          <a:cs typeface="+mn-cs"/>
        </a:defRPr>
      </a:lvl1pPr>
      <a:lvl2pPr marL="0" eaLnBrk="1" hangingPunct="1">
        <a:spcBef>
          <a:spcPts val="0"/>
        </a:spcBef>
        <a:spcAft>
          <a:spcPts val="1200"/>
        </a:spcAft>
        <a:defRPr sz="1400" b="0" i="0">
          <a:solidFill>
            <a:srgbClr val="898989"/>
          </a:solidFill>
          <a:latin typeface="Arial Regular" charset="0"/>
          <a:ea typeface="+mn-ea"/>
          <a:cs typeface="+mn-cs"/>
        </a:defRPr>
      </a:lvl2pPr>
      <a:lvl3pPr marL="0" eaLnBrk="1" hangingPunct="1">
        <a:spcBef>
          <a:spcPts val="0"/>
        </a:spcBef>
        <a:spcAft>
          <a:spcPts val="1200"/>
        </a:spcAft>
        <a:defRPr sz="1050" b="0" i="0">
          <a:latin typeface="+mn-lt"/>
          <a:ea typeface="+mn-ea"/>
          <a:cs typeface="+mn-cs"/>
        </a:defRPr>
      </a:lvl3pPr>
      <a:lvl4pPr marL="0" eaLnBrk="1" hangingPunct="1">
        <a:spcBef>
          <a:spcPts val="0"/>
        </a:spcBef>
        <a:spcAft>
          <a:spcPts val="1200"/>
        </a:spcAft>
        <a:defRPr sz="1050" b="0" i="0">
          <a:latin typeface="+mn-lt"/>
          <a:ea typeface="+mn-ea"/>
          <a:cs typeface="+mn-cs"/>
        </a:defRPr>
      </a:lvl4pPr>
      <a:lvl5pPr marL="0" eaLnBrk="1" hangingPunct="1">
        <a:spcBef>
          <a:spcPts val="0"/>
        </a:spcBef>
        <a:spcAft>
          <a:spcPts val="1200"/>
        </a:spcAft>
        <a:defRPr sz="1050" b="0" i="0">
          <a:latin typeface="+mn-lt"/>
          <a:ea typeface="+mn-ea"/>
          <a:cs typeface="+mn-cs"/>
        </a:defRPr>
      </a:lvl5pPr>
      <a:lvl6pPr marL="2285086" eaLnBrk="1" hangingPunct="1">
        <a:defRPr>
          <a:latin typeface="+mn-lt"/>
          <a:ea typeface="+mn-ea"/>
          <a:cs typeface="+mn-cs"/>
        </a:defRPr>
      </a:lvl6pPr>
      <a:lvl7pPr marL="2742103" eaLnBrk="1" hangingPunct="1">
        <a:defRPr>
          <a:latin typeface="+mn-lt"/>
          <a:ea typeface="+mn-ea"/>
          <a:cs typeface="+mn-cs"/>
        </a:defRPr>
      </a:lvl7pPr>
      <a:lvl8pPr marL="3199120" eaLnBrk="1" hangingPunct="1">
        <a:defRPr>
          <a:latin typeface="+mn-lt"/>
          <a:ea typeface="+mn-ea"/>
          <a:cs typeface="+mn-cs"/>
        </a:defRPr>
      </a:lvl8pPr>
      <a:lvl9pPr marL="3656137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017" eaLnBrk="1" hangingPunct="1">
        <a:defRPr>
          <a:latin typeface="+mn-lt"/>
          <a:ea typeface="+mn-ea"/>
          <a:cs typeface="+mn-cs"/>
        </a:defRPr>
      </a:lvl2pPr>
      <a:lvl3pPr marL="914034" eaLnBrk="1" hangingPunct="1">
        <a:defRPr>
          <a:latin typeface="+mn-lt"/>
          <a:ea typeface="+mn-ea"/>
          <a:cs typeface="+mn-cs"/>
        </a:defRPr>
      </a:lvl3pPr>
      <a:lvl4pPr marL="1371051" eaLnBrk="1" hangingPunct="1">
        <a:defRPr>
          <a:latin typeface="+mn-lt"/>
          <a:ea typeface="+mn-ea"/>
          <a:cs typeface="+mn-cs"/>
        </a:defRPr>
      </a:lvl4pPr>
      <a:lvl5pPr marL="1828068" eaLnBrk="1" hangingPunct="1">
        <a:defRPr>
          <a:latin typeface="+mn-lt"/>
          <a:ea typeface="+mn-ea"/>
          <a:cs typeface="+mn-cs"/>
        </a:defRPr>
      </a:lvl5pPr>
      <a:lvl6pPr marL="2285086" eaLnBrk="1" hangingPunct="1">
        <a:defRPr>
          <a:latin typeface="+mn-lt"/>
          <a:ea typeface="+mn-ea"/>
          <a:cs typeface="+mn-cs"/>
        </a:defRPr>
      </a:lvl6pPr>
      <a:lvl7pPr marL="2742103" eaLnBrk="1" hangingPunct="1">
        <a:defRPr>
          <a:latin typeface="+mn-lt"/>
          <a:ea typeface="+mn-ea"/>
          <a:cs typeface="+mn-cs"/>
        </a:defRPr>
      </a:lvl7pPr>
      <a:lvl8pPr marL="3199120" eaLnBrk="1" hangingPunct="1">
        <a:defRPr>
          <a:latin typeface="+mn-lt"/>
          <a:ea typeface="+mn-ea"/>
          <a:cs typeface="+mn-cs"/>
        </a:defRPr>
      </a:lvl8pPr>
      <a:lvl9pPr marL="3656137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8188" y="2771725"/>
            <a:ext cx="4238946" cy="1015663"/>
          </a:xfrm>
        </p:spPr>
        <p:txBody>
          <a:bodyPr/>
          <a:lstStyle/>
          <a:p>
            <a:r>
              <a:rPr lang="en-GB" sz="2000" b="1" dirty="0"/>
              <a:t>POF-23</a:t>
            </a:r>
            <a:br>
              <a:rPr lang="en-GB" sz="2000" b="1" dirty="0"/>
            </a:br>
            <a:r>
              <a:rPr lang="en-US" sz="2000" b="1" cap="all" dirty="0"/>
              <a:t>Aerodynamic Limitations</a:t>
            </a:r>
            <a:endParaRPr lang="en-GB" sz="2000" b="1" cap="all" dirty="0"/>
          </a:p>
        </p:txBody>
      </p:sp>
    </p:spTree>
    <p:extLst>
      <p:ext uri="{BB962C8B-B14F-4D97-AF65-F5344CB8AC3E}">
        <p14:creationId xmlns:p14="http://schemas.microsoft.com/office/powerpoint/2010/main" val="754231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247775" y="6772037"/>
            <a:ext cx="3460428" cy="243869"/>
          </a:xfrm>
        </p:spPr>
        <p:txBody>
          <a:bodyPr/>
          <a:lstStyle/>
          <a:p>
            <a:r>
              <a:rPr lang="en-US" dirty="0"/>
              <a:t>A Principles of Flight book and Chapter 23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47775" y="711702"/>
            <a:ext cx="7483775" cy="494366"/>
          </a:xfrm>
        </p:spPr>
        <p:txBody>
          <a:bodyPr/>
          <a:lstStyle/>
          <a:p>
            <a:r>
              <a:rPr lang="en-US" sz="3200" b="1" cap="all" dirty="0"/>
              <a:t>Aerodynamic Limitations</a:t>
            </a:r>
            <a:endParaRPr lang="en-GB" sz="3200" b="1" cap="all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247775" y="1547589"/>
            <a:ext cx="5611093" cy="5224448"/>
          </a:xfrm>
        </p:spPr>
        <p:txBody>
          <a:bodyPr>
            <a:normAutofit/>
          </a:bodyPr>
          <a:lstStyle/>
          <a:p>
            <a:pPr marL="342900" indent="-342900" algn="l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cap="all" dirty="0"/>
              <a:t>Structural Strength</a:t>
            </a:r>
          </a:p>
          <a:p>
            <a:pPr marL="342900" indent="-342900" algn="l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cap="all" dirty="0"/>
              <a:t>The Maneuver Envelope</a:t>
            </a:r>
          </a:p>
          <a:p>
            <a:pPr marL="342900" indent="-342900" algn="l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cap="all" dirty="0"/>
              <a:t>Design and Operating Speeds</a:t>
            </a:r>
          </a:p>
          <a:p>
            <a:pPr marL="342900" indent="-342900" algn="l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cap="all" dirty="0"/>
              <a:t>Aeroelasticity</a:t>
            </a:r>
          </a:p>
        </p:txBody>
      </p:sp>
    </p:spTree>
    <p:extLst>
      <p:ext uri="{BB962C8B-B14F-4D97-AF65-F5344CB8AC3E}">
        <p14:creationId xmlns:p14="http://schemas.microsoft.com/office/powerpoint/2010/main" val="80055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264146" y="6990468"/>
            <a:ext cx="3210403" cy="227259"/>
          </a:xfrm>
        </p:spPr>
        <p:txBody>
          <a:bodyPr/>
          <a:lstStyle/>
          <a:p>
            <a:r>
              <a:rPr lang="en-US" dirty="0"/>
              <a:t>A Principles of Flight book and Chapter 23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264146" y="1691605"/>
            <a:ext cx="5611093" cy="4896544"/>
          </a:xfrm>
        </p:spPr>
        <p:txBody>
          <a:bodyPr>
            <a:normAutofit/>
          </a:bodyPr>
          <a:lstStyle/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cap="all" dirty="0"/>
              <a:t>Understand load factor limitations</a:t>
            </a: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cap="all" dirty="0"/>
              <a:t>Identify maneuver envelop</a:t>
            </a: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cap="all" dirty="0"/>
              <a:t>Identify Operating speeds</a:t>
            </a:r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sz="2000" cap="all" dirty="0"/>
          </a:p>
          <a:p>
            <a:pPr marL="342900" indent="-342900"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GB" sz="2000" cap="all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3672B29F-2644-40DA-894D-27428A1C7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300" y="693183"/>
            <a:ext cx="7483776" cy="866263"/>
          </a:xfrm>
        </p:spPr>
        <p:txBody>
          <a:bodyPr/>
          <a:lstStyle/>
          <a:p>
            <a:r>
              <a:rPr lang="en-GB" sz="3200" b="1" cap="all" dirty="0"/>
              <a:t>At the end of this lesson you will be able to:</a:t>
            </a:r>
          </a:p>
        </p:txBody>
      </p:sp>
    </p:spTree>
    <p:extLst>
      <p:ext uri="{BB962C8B-B14F-4D97-AF65-F5344CB8AC3E}">
        <p14:creationId xmlns:p14="http://schemas.microsoft.com/office/powerpoint/2010/main" val="353822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300" y="683493"/>
            <a:ext cx="8707911" cy="464230"/>
          </a:xfrm>
        </p:spPr>
        <p:txBody>
          <a:bodyPr/>
          <a:lstStyle/>
          <a:p>
            <a:r>
              <a:rPr lang="en-GB" sz="3200" b="1" dirty="0"/>
              <a:t>STRUCTURAL STRENGTH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0679E-E221-2143-8F37-247D7C7B042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REF (PAD PILOT CHAPTER NAME AND NUMBER)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1247775" y="1475581"/>
            <a:ext cx="8707437" cy="5184576"/>
          </a:xfrm>
        </p:spPr>
        <p:txBody>
          <a:bodyPr>
            <a:normAutofit/>
          </a:bodyPr>
          <a:lstStyle/>
          <a:p>
            <a:pPr marL="914400" indent="-4572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The strength of the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aeroplane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structure is its ability to withstand a load or force.</a:t>
            </a:r>
          </a:p>
          <a:p>
            <a:pPr marL="914400" lvl="1" indent="-4572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The </a:t>
            </a:r>
            <a:r>
              <a:rPr lang="en-US" sz="2000" dirty="0">
                <a:solidFill>
                  <a:srgbClr val="FF0000"/>
                </a:solidFill>
              </a:rPr>
              <a:t>Load Limit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is the maximum load to be expected in service.</a:t>
            </a:r>
          </a:p>
          <a:p>
            <a:pPr marL="914400" lvl="1" indent="-4572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The </a:t>
            </a:r>
            <a:r>
              <a:rPr lang="en-US" sz="2000" dirty="0">
                <a:solidFill>
                  <a:srgbClr val="FF0000"/>
                </a:solidFill>
              </a:rPr>
              <a:t>Ultimate load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is the failing load of the structure.</a:t>
            </a:r>
          </a:p>
          <a:p>
            <a:pPr marL="914400" lvl="1" indent="-4572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The </a:t>
            </a:r>
            <a:r>
              <a:rPr lang="en-US" sz="2000" dirty="0">
                <a:solidFill>
                  <a:srgbClr val="FF0000"/>
                </a:solidFill>
              </a:rPr>
              <a:t>Factor of Safety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(Safety </a:t>
            </a:r>
            <a:r>
              <a:rPr lang="en-US" sz="2000">
                <a:solidFill>
                  <a:schemeClr val="bg1">
                    <a:lumMod val="50000"/>
                  </a:schemeClr>
                </a:solidFill>
              </a:rPr>
              <a:t>Factor) is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the ratio of the ultimate load to the limit load. </a:t>
            </a:r>
          </a:p>
          <a:p>
            <a:pPr marL="914400" indent="-4572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For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aeroplanes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, the factor of safety is </a:t>
            </a:r>
            <a:r>
              <a:rPr lang="en-US" sz="2000" dirty="0">
                <a:solidFill>
                  <a:srgbClr val="FF0000"/>
                </a:solidFill>
              </a:rPr>
              <a:t>1.5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pPr marL="914400" indent="-45720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To remain within the safe limit, we use a chart (shown on the next page) called the maneuver envelope.</a:t>
            </a:r>
          </a:p>
        </p:txBody>
      </p:sp>
    </p:spTree>
    <p:extLst>
      <p:ext uri="{BB962C8B-B14F-4D97-AF65-F5344CB8AC3E}">
        <p14:creationId xmlns:p14="http://schemas.microsoft.com/office/powerpoint/2010/main" val="1868759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300" y="683493"/>
            <a:ext cx="8707911" cy="464230"/>
          </a:xfrm>
        </p:spPr>
        <p:txBody>
          <a:bodyPr/>
          <a:lstStyle/>
          <a:p>
            <a:r>
              <a:rPr lang="en-GB" sz="3200" b="1" dirty="0"/>
              <a:t>THE MANEUVER ENVELOPE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0679E-E221-2143-8F37-247D7C7B042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REF (PAD PILOT CHAPTER NAME AND NUMBER)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1247775" y="1475581"/>
            <a:ext cx="8707437" cy="5184576"/>
          </a:xfrm>
        </p:spPr>
        <p:txBody>
          <a:bodyPr>
            <a:normAutofit/>
          </a:bodyPr>
          <a:lstStyle/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The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manoeuvre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envelope provides an envelope for safe flight. </a:t>
            </a:r>
          </a:p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The axes are speed (EAS) and load factor (n). Hence the name ‘V-n diagram’.</a:t>
            </a:r>
          </a:p>
        </p:txBody>
      </p:sp>
      <p:pic>
        <p:nvPicPr>
          <p:cNvPr id="6" name="11-062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14621" y="3275781"/>
            <a:ext cx="6444447" cy="3656106"/>
          </a:xfrm>
          <a:prstGeom prst="rect">
            <a:avLst/>
          </a:prstGeom>
          <a:ln w="254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71812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300" y="683493"/>
            <a:ext cx="8707911" cy="464230"/>
          </a:xfrm>
        </p:spPr>
        <p:txBody>
          <a:bodyPr/>
          <a:lstStyle/>
          <a:p>
            <a:r>
              <a:rPr lang="en-GB" sz="3200" b="1" dirty="0"/>
              <a:t>THE MANEUVER ENVELOPE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0679E-E221-2143-8F37-247D7C7B042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REF (PAD PILOT CHAPTER NAME AND NUMBER)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1247775" y="1475581"/>
            <a:ext cx="8707437" cy="5184576"/>
          </a:xfrm>
        </p:spPr>
        <p:txBody>
          <a:bodyPr>
            <a:normAutofit/>
          </a:bodyPr>
          <a:lstStyle/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The left side of the </a:t>
            </a:r>
            <a:r>
              <a:rPr lang="en-US" sz="2000" spc="5" dirty="0" err="1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manoeuvre</a:t>
            </a: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 envelope is bounded by flight at CLMAX.</a:t>
            </a:r>
          </a:p>
        </p:txBody>
      </p:sp>
      <p:pic>
        <p:nvPicPr>
          <p:cNvPr id="7" name="11-062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4574" y="1918321"/>
            <a:ext cx="8931374" cy="506969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3316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300" y="683493"/>
            <a:ext cx="8707911" cy="464230"/>
          </a:xfrm>
        </p:spPr>
        <p:txBody>
          <a:bodyPr/>
          <a:lstStyle/>
          <a:p>
            <a:r>
              <a:rPr lang="en-GB" sz="3200" b="1" dirty="0"/>
              <a:t>THE MANEUVER ENVELOPE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0679E-E221-2143-8F37-247D7C7B042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REF (PAD PILOT CHAPTER NAME AND NUMBER)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1247775" y="1475581"/>
            <a:ext cx="8707437" cy="5184576"/>
          </a:xfrm>
        </p:spPr>
        <p:txBody>
          <a:bodyPr>
            <a:normAutofit/>
          </a:bodyPr>
          <a:lstStyle/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At speeds slower than the intersection of the stall boundary with the positive load limit of 2.5, the </a:t>
            </a:r>
            <a:r>
              <a:rPr lang="en-US" sz="2000" spc="5" dirty="0" err="1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aeroplane</a:t>
            </a: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 will stall before distorting or failing.</a:t>
            </a:r>
          </a:p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At faster speeds, the </a:t>
            </a:r>
            <a:r>
              <a:rPr lang="en-US" sz="2000" spc="5" dirty="0" err="1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aeroplane</a:t>
            </a: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 will exceed the limit load factor and may bend or fail completely.</a:t>
            </a:r>
          </a:p>
          <a:p>
            <a:pPr marL="285750" indent="-285750" defTabSz="457200">
              <a:lnSpc>
                <a:spcPts val="3000"/>
              </a:lnSpc>
              <a:spcBef>
                <a:spcPts val="400"/>
              </a:spcBef>
              <a:buClr>
                <a:srgbClr val="E42212"/>
              </a:buClr>
              <a:buFont typeface="Arial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endParaRPr lang="en-US" sz="1800" dirty="0">
              <a:solidFill>
                <a:srgbClr val="898989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2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300" y="683493"/>
            <a:ext cx="8707911" cy="464230"/>
          </a:xfrm>
        </p:spPr>
        <p:txBody>
          <a:bodyPr/>
          <a:lstStyle/>
          <a:p>
            <a:r>
              <a:rPr lang="en-GB" sz="3200" b="1" dirty="0"/>
              <a:t>THE MANEUVER ENVELOPE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0679E-E221-2143-8F37-247D7C7B042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REF (PAD PILOT CHAPTER NAME AND NUMBER)</a:t>
            </a:r>
            <a:endParaRPr lang="en-US" dirty="0"/>
          </a:p>
        </p:txBody>
      </p:sp>
      <p:pic>
        <p:nvPicPr>
          <p:cNvPr id="7" name="11-0624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4574" y="1147723"/>
            <a:ext cx="9519703" cy="610278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91313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300" y="683493"/>
            <a:ext cx="8707911" cy="464230"/>
          </a:xfrm>
        </p:spPr>
        <p:txBody>
          <a:bodyPr/>
          <a:lstStyle/>
          <a:p>
            <a:pPr algn="l">
              <a:buClr>
                <a:srgbClr val="FF0000"/>
              </a:buClr>
            </a:pPr>
            <a:r>
              <a:rPr lang="en-US" sz="3200" b="1" cap="all" dirty="0"/>
              <a:t>Design and Operating Speeds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0679E-E221-2143-8F37-247D7C7B042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REF (PAD PILOT CHAPTER NAME AND NUMBER)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1247775" y="1475581"/>
            <a:ext cx="8707437" cy="5184576"/>
          </a:xfrm>
        </p:spPr>
        <p:txBody>
          <a:bodyPr>
            <a:normAutofit/>
          </a:bodyPr>
          <a:lstStyle/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V</a:t>
            </a:r>
            <a:r>
              <a:rPr lang="en-US" sz="2000" spc="5" baseline="-25000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A</a:t>
            </a: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 (</a:t>
            </a:r>
            <a:r>
              <a:rPr lang="en-US" sz="2000" spc="5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The Design Maneuver Speed</a:t>
            </a: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) is the highest speed at which sudden, full up elevator deflection can be made without exceeding the limit load factor.</a:t>
            </a:r>
          </a:p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Below V</a:t>
            </a:r>
            <a:r>
              <a:rPr lang="en-US" sz="2000" spc="5" baseline="-25000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A </a:t>
            </a: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the </a:t>
            </a:r>
            <a:r>
              <a:rPr lang="en-US" sz="2000" spc="5" dirty="0" err="1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aeroplane</a:t>
            </a: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 will stall before reaching the limit load.</a:t>
            </a:r>
          </a:p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At speeds a little faster than V</a:t>
            </a:r>
            <a:r>
              <a:rPr lang="en-US" sz="2000" spc="5" baseline="-25000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A</a:t>
            </a: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 (less than 22%), the airframe will distort before the stall.</a:t>
            </a:r>
          </a:p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At faster speeds the ultimate load factor can be exceeded before the stall thus the structure may fail.</a:t>
            </a:r>
          </a:p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There are many other speeds to consider besides V</a:t>
            </a:r>
            <a:r>
              <a:rPr lang="en-US" sz="2000" spc="5" baseline="-25000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A</a:t>
            </a: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.</a:t>
            </a:r>
          </a:p>
          <a:p>
            <a:pPr marL="285750" indent="-285750" defTabSz="457200">
              <a:lnSpc>
                <a:spcPts val="3000"/>
              </a:lnSpc>
              <a:spcBef>
                <a:spcPts val="600"/>
              </a:spcBef>
              <a:buClr>
                <a:srgbClr val="E42212"/>
              </a:buClr>
              <a:buFont typeface="Arial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endParaRPr lang="en-US" sz="1800" dirty="0">
              <a:solidFill>
                <a:srgbClr val="898989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11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300" y="683493"/>
            <a:ext cx="8707911" cy="464230"/>
          </a:xfrm>
        </p:spPr>
        <p:txBody>
          <a:bodyPr/>
          <a:lstStyle/>
          <a:p>
            <a:pPr algn="l">
              <a:buClr>
                <a:srgbClr val="FF0000"/>
              </a:buClr>
            </a:pPr>
            <a:r>
              <a:rPr lang="en-US" sz="3200" b="1" cap="all" dirty="0"/>
              <a:t>Design and Operating Speeds 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0679E-E221-2143-8F37-247D7C7B042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REF (PAD PILOT CHAPTER NAME AND NUMBER)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1247775" y="1475581"/>
            <a:ext cx="8707437" cy="5184576"/>
          </a:xfrm>
        </p:spPr>
        <p:txBody>
          <a:bodyPr>
            <a:noAutofit/>
          </a:bodyPr>
          <a:lstStyle/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VMO - Maximum Operating Speed</a:t>
            </a: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. The maximum speed that must not be intentionally exceeded during any phase of flight.</a:t>
            </a:r>
          </a:p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VNE - Never Exceed Speed </a:t>
            </a: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is applicable to small </a:t>
            </a:r>
            <a:r>
              <a:rPr lang="en-US" sz="2000" spc="5" dirty="0" err="1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aeroplanes</a:t>
            </a: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.</a:t>
            </a:r>
          </a:p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VNO - Maximum Structural Cruise Speed </a:t>
            </a: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is applicable to small </a:t>
            </a:r>
            <a:r>
              <a:rPr lang="en-US" sz="2000" spc="5" dirty="0" err="1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aeroplanes</a:t>
            </a: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.</a:t>
            </a:r>
          </a:p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sz="2000" spc="5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VNO - is the normal operating cruise speed </a:t>
            </a: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and is applicable to small </a:t>
            </a:r>
            <a:r>
              <a:rPr lang="en-US" sz="2000" spc="5" dirty="0" err="1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aeroplanes</a:t>
            </a: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. It is at the slow end of the yellow arc and at the fast end of the green arc on the ASI.</a:t>
            </a:r>
          </a:p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&gt;&gt;</a:t>
            </a:r>
          </a:p>
          <a:p>
            <a:pPr marL="285750" indent="-285750">
              <a:buClr>
                <a:srgbClr val="E42212"/>
              </a:buClr>
              <a:buFont typeface="Arial" charset="0"/>
              <a:buChar char="•"/>
            </a:pPr>
            <a:endParaRPr lang="en-US" sz="1800" dirty="0">
              <a:solidFill>
                <a:srgbClr val="898989"/>
              </a:solidFill>
            </a:endParaRPr>
          </a:p>
          <a:p>
            <a:pPr marL="285750" indent="-285750">
              <a:buClr>
                <a:srgbClr val="E42212"/>
              </a:buClr>
              <a:buFont typeface="Arial" charset="0"/>
              <a:buChar char="•"/>
            </a:pPr>
            <a:endParaRPr lang="en-US" sz="1800" dirty="0">
              <a:solidFill>
                <a:srgbClr val="898989"/>
              </a:solidFill>
            </a:endParaRPr>
          </a:p>
          <a:p>
            <a:pPr marL="285750" indent="-285750">
              <a:buClr>
                <a:srgbClr val="E42212"/>
              </a:buClr>
              <a:buFont typeface="Arial" charset="0"/>
              <a:buChar char="•"/>
            </a:pPr>
            <a:endParaRPr lang="en-US" sz="1800" dirty="0">
              <a:solidFill>
                <a:srgbClr val="898989"/>
              </a:solidFill>
            </a:endParaRPr>
          </a:p>
          <a:p>
            <a:pPr marL="285750" indent="-285750">
              <a:buClr>
                <a:srgbClr val="E42212"/>
              </a:buClr>
              <a:buFont typeface="Arial" charset="0"/>
              <a:buChar char="•"/>
            </a:pPr>
            <a:endParaRPr lang="en-US" sz="18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148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300" y="683493"/>
            <a:ext cx="8707911" cy="464230"/>
          </a:xfrm>
        </p:spPr>
        <p:txBody>
          <a:bodyPr/>
          <a:lstStyle/>
          <a:p>
            <a:pPr algn="l">
              <a:buClr>
                <a:srgbClr val="FF0000"/>
              </a:buClr>
            </a:pPr>
            <a:r>
              <a:rPr lang="en-US" sz="3200" b="1" cap="all" dirty="0"/>
              <a:t>Design and Operating Speeds 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0679E-E221-2143-8F37-247D7C7B042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REF (PAD PILOT CHAPTER NAME AND NUMBER)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1247775" y="1475581"/>
            <a:ext cx="8707437" cy="5184576"/>
          </a:xfrm>
        </p:spPr>
        <p:txBody>
          <a:bodyPr>
            <a:noAutofit/>
          </a:bodyPr>
          <a:lstStyle/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VLE - Maximum Landing Gear Extended Speed</a:t>
            </a: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. The maximum speed at which the </a:t>
            </a:r>
            <a:r>
              <a:rPr lang="en-US" sz="2000" spc="5" dirty="0" err="1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aeroplane</a:t>
            </a: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 can be flown with the landing gear down and locked.</a:t>
            </a:r>
          </a:p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VLO - Maximum Landing Gear Operating Speed</a:t>
            </a: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. Although VLO may be the same as VLE, it is often a slower limiting speed because the gear and gear doors are not properly braced when travelling.</a:t>
            </a:r>
          </a:p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VFE - Maximum Flap Extension Speed</a:t>
            </a: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. The maximum speed at which the </a:t>
            </a:r>
            <a:r>
              <a:rPr lang="en-US" sz="2000" spc="5" dirty="0" err="1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aeroplane</a:t>
            </a: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 can be flown with the flaps extended in prescribed position.</a:t>
            </a:r>
          </a:p>
          <a:p>
            <a:pPr marL="285750" indent="-285750">
              <a:buClr>
                <a:srgbClr val="E42212"/>
              </a:buClr>
              <a:buFont typeface="Arial" charset="0"/>
              <a:buChar char="•"/>
            </a:pPr>
            <a:endParaRPr lang="en-US" sz="1800" dirty="0">
              <a:solidFill>
                <a:srgbClr val="898989"/>
              </a:solidFill>
            </a:endParaRPr>
          </a:p>
          <a:p>
            <a:pPr marL="285750" indent="-285750">
              <a:buClr>
                <a:srgbClr val="E42212"/>
              </a:buClr>
              <a:buFont typeface="Arial" charset="0"/>
              <a:buChar char="•"/>
            </a:pPr>
            <a:endParaRPr lang="en-US" sz="1800" dirty="0">
              <a:solidFill>
                <a:srgbClr val="898989"/>
              </a:solidFill>
            </a:endParaRPr>
          </a:p>
          <a:p>
            <a:pPr marL="285750" indent="-285750">
              <a:buClr>
                <a:srgbClr val="E42212"/>
              </a:buClr>
              <a:buFont typeface="Arial" charset="0"/>
              <a:buChar char="•"/>
            </a:pPr>
            <a:endParaRPr lang="en-US" sz="1800" dirty="0">
              <a:solidFill>
                <a:srgbClr val="898989"/>
              </a:solidFill>
            </a:endParaRPr>
          </a:p>
          <a:p>
            <a:pPr marL="285750" indent="-285750">
              <a:buClr>
                <a:srgbClr val="E42212"/>
              </a:buClr>
              <a:buFont typeface="Arial" charset="0"/>
              <a:buChar char="•"/>
            </a:pPr>
            <a:endParaRPr lang="en-US" sz="18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479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300" y="683493"/>
            <a:ext cx="8707911" cy="464230"/>
          </a:xfrm>
        </p:spPr>
        <p:txBody>
          <a:bodyPr/>
          <a:lstStyle/>
          <a:p>
            <a:pPr algn="l">
              <a:buClr>
                <a:srgbClr val="FF0000"/>
              </a:buClr>
            </a:pPr>
            <a:r>
              <a:rPr lang="en-US" sz="3200" b="1" cap="all" dirty="0"/>
              <a:t>AEROELASTICITY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0679E-E221-2143-8F37-247D7C7B042C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REF (PAD PILOT CHAPTER NAME AND NUMBER)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1247775" y="1331565"/>
            <a:ext cx="8707437" cy="5184576"/>
          </a:xfrm>
        </p:spPr>
        <p:txBody>
          <a:bodyPr>
            <a:noAutofit/>
          </a:bodyPr>
          <a:lstStyle/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When aerodynamic forces acting on a structure become large enough, they can cause the structure to twist about its torsional axis. </a:t>
            </a:r>
          </a:p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This is opposed by the elastic properties of the structure. </a:t>
            </a:r>
          </a:p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As speed increases the aerodynamic force eventually equals the opposing elastic force.</a:t>
            </a:r>
          </a:p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Any further increase in speed (beyond the torsional divergence speed) will cause structural failure.</a:t>
            </a:r>
          </a:p>
        </p:txBody>
      </p:sp>
      <p:pic>
        <p:nvPicPr>
          <p:cNvPr id="6" name="11-064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0532" y="4277471"/>
            <a:ext cx="9644720" cy="252670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48107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300" y="683493"/>
            <a:ext cx="8707911" cy="464230"/>
          </a:xfrm>
        </p:spPr>
        <p:txBody>
          <a:bodyPr/>
          <a:lstStyle/>
          <a:p>
            <a:pPr algn="l">
              <a:buClr>
                <a:srgbClr val="FF0000"/>
              </a:buClr>
            </a:pPr>
            <a:r>
              <a:rPr lang="en-US" sz="3200" b="1" cap="all" dirty="0"/>
              <a:t>AEROELASTICITY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0679E-E221-2143-8F37-247D7C7B042C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REF (PAD PILOT CHAPTER NAME AND NUMBER)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1247775" y="1331565"/>
            <a:ext cx="9355509" cy="5184576"/>
          </a:xfrm>
        </p:spPr>
        <p:txBody>
          <a:bodyPr>
            <a:noAutofit/>
          </a:bodyPr>
          <a:lstStyle/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The distribution of mass in a structure and the structure’s stiffness determine its natural frequency of oscillation.</a:t>
            </a:r>
          </a:p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If subjected to a forcing frequency at its natural frequency the structure will vibrate strongly; this is known as resonance.</a:t>
            </a:r>
          </a:p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 err="1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Aerofoils</a:t>
            </a: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 can resonate around their torsional axis – flutter.</a:t>
            </a:r>
          </a:p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The oscillations can become divergent leading to structural failure.</a:t>
            </a:r>
          </a:p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Aileron, elevator or rudder flutter occurs when the inertia of the control surface interacts with the torsional twisting of its associated main surface.</a:t>
            </a:r>
          </a:p>
          <a:p>
            <a:pPr marL="914400" indent="-457200" defTabSz="457200">
              <a:lnSpc>
                <a:spcPts val="3000"/>
              </a:lnSpc>
              <a:buClr>
                <a:srgbClr val="FF0000"/>
              </a:buClr>
              <a:buFont typeface="Arial" panose="020B0604020202020204" pitchFamily="34" charset="0"/>
              <a:buChar char="•"/>
              <a:defRPr sz="1400" spc="5">
                <a:latin typeface="Verdana"/>
                <a:ea typeface="Verdana"/>
                <a:cs typeface="Verdana"/>
                <a:sym typeface="Verdana"/>
              </a:defRPr>
            </a:pPr>
            <a:r>
              <a:rPr lang="en-US" sz="2000" spc="5" dirty="0">
                <a:solidFill>
                  <a:schemeClr val="bg1">
                    <a:lumMod val="50000"/>
                  </a:schemeClr>
                </a:solidFill>
                <a:latin typeface="Verdana"/>
                <a:ea typeface="Verdana"/>
                <a:cs typeface="Verdana"/>
              </a:rPr>
              <a:t>Flutter can be prevented using mass balancing to move the control surface’s CG onto or forward of the hinge line. </a:t>
            </a:r>
          </a:p>
          <a:p>
            <a:pPr marL="285750" indent="-285750">
              <a:buClr>
                <a:srgbClr val="E42212"/>
              </a:buClr>
              <a:buFont typeface="Arial" charset="0"/>
              <a:buChar char="•"/>
            </a:pPr>
            <a:endParaRPr lang="en-US" sz="1800" dirty="0">
              <a:solidFill>
                <a:srgbClr val="898989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304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300" y="683493"/>
            <a:ext cx="8707911" cy="464230"/>
          </a:xfrm>
        </p:spPr>
        <p:txBody>
          <a:bodyPr/>
          <a:lstStyle/>
          <a:p>
            <a:pPr algn="l">
              <a:buClr>
                <a:srgbClr val="FF0000"/>
              </a:buClr>
            </a:pPr>
            <a:r>
              <a:rPr lang="en-US" sz="3200" b="1" cap="all" dirty="0"/>
              <a:t>AEROELASTICITY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0679E-E221-2143-8F37-247D7C7B042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REF (PAD PILOT CHAPTER NAME AND NUMBER)</a:t>
            </a:r>
            <a:endParaRPr lang="en-US" dirty="0"/>
          </a:p>
        </p:txBody>
      </p:sp>
      <p:pic>
        <p:nvPicPr>
          <p:cNvPr id="7" name="11-0078.png"/>
          <p:cNvPicPr>
            <a:picLocks noChangeAspect="1"/>
          </p:cNvPicPr>
          <p:nvPr/>
        </p:nvPicPr>
        <p:blipFill>
          <a:blip r:embed="rId2">
            <a:extLst/>
          </a:blip>
          <a:srcRect t="2696" b="2696"/>
          <a:stretch>
            <a:fillRect/>
          </a:stretch>
        </p:blipFill>
        <p:spPr>
          <a:xfrm>
            <a:off x="1262146" y="1100702"/>
            <a:ext cx="8611964" cy="645897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46780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247300" y="6990468"/>
            <a:ext cx="3667352" cy="227258"/>
          </a:xfrm>
        </p:spPr>
        <p:txBody>
          <a:bodyPr/>
          <a:lstStyle/>
          <a:p>
            <a:r>
              <a:rPr lang="en-US" dirty="0"/>
              <a:t>A Principles of Flight book and Chapter 22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247300" y="1691606"/>
            <a:ext cx="5611093" cy="648072"/>
          </a:xfrm>
        </p:spPr>
        <p:txBody>
          <a:bodyPr>
            <a:normAutofit/>
          </a:bodyPr>
          <a:lstStyle/>
          <a:p>
            <a:pPr algn="just">
              <a:buClr>
                <a:srgbClr val="FF0000"/>
              </a:buClr>
            </a:pPr>
            <a:r>
              <a:rPr lang="en-GB" sz="3200" b="1" cap="all" dirty="0"/>
              <a:t>END OF POF</a:t>
            </a:r>
          </a:p>
        </p:txBody>
      </p:sp>
    </p:spTree>
    <p:extLst>
      <p:ext uri="{BB962C8B-B14F-4D97-AF65-F5344CB8AC3E}">
        <p14:creationId xmlns:p14="http://schemas.microsoft.com/office/powerpoint/2010/main" val="536312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A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wrap="square" lIns="0" tIns="0" rIns="0" bIns="0" rtlCol="0">
        <a:spAutoFit/>
      </a:bodyPr>
      <a:lstStyle>
        <a:defPPr marL="21590">
          <a:defRPr sz="2800" b="0" i="0" kern="0" spc="-5" baseline="0" dirty="0" smtClean="0">
            <a:solidFill>
              <a:srgbClr val="898989"/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NT_B2B-Presentation_V2" id="{C457BE2D-532D-724D-9203-C4184AF43DCA}" vid="{567879E7-D3DF-5446-8B1A-EB8674A829E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INT_B2B-Presentation_V2</Template>
  <TotalTime>3432</TotalTime>
  <Words>824</Words>
  <Application>Microsoft Office PowerPoint</Application>
  <PresentationFormat>Custom</PresentationFormat>
  <Paragraphs>91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Regular</vt:lpstr>
      <vt:lpstr>Calibri</vt:lpstr>
      <vt:lpstr>Verdana</vt:lpstr>
      <vt:lpstr>Office Theme</vt:lpstr>
      <vt:lpstr>POF-23 Aerodynamic Limitations</vt:lpstr>
      <vt:lpstr>Aerodynamic Limitations</vt:lpstr>
      <vt:lpstr>At the end of this lesson you will be able to:</vt:lpstr>
      <vt:lpstr>STRUCTURAL STRENGTH</vt:lpstr>
      <vt:lpstr>THE MANEUVER ENVELOPE</vt:lpstr>
      <vt:lpstr>THE MANEUVER ENVELOPE</vt:lpstr>
      <vt:lpstr>THE MANEUVER ENVELOPE</vt:lpstr>
      <vt:lpstr>THE MANEUVER ENVELOPE</vt:lpstr>
      <vt:lpstr>Design and Operating Speeds</vt:lpstr>
      <vt:lpstr>Design and Operating Speeds 1</vt:lpstr>
      <vt:lpstr>Design and Operating Speeds 2</vt:lpstr>
      <vt:lpstr>AEROELASTICITY</vt:lpstr>
      <vt:lpstr>AEROELASTICITY</vt:lpstr>
      <vt:lpstr>AEROELASTICITY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Jomilla Callaghan</dc:creator>
  <cp:lastModifiedBy>Jamie Cross</cp:lastModifiedBy>
  <cp:revision>132</cp:revision>
  <cp:lastPrinted>2016-12-07T10:56:23Z</cp:lastPrinted>
  <dcterms:created xsi:type="dcterms:W3CDTF">2016-12-06T15:20:23Z</dcterms:created>
  <dcterms:modified xsi:type="dcterms:W3CDTF">2017-10-02T06:03:30Z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2016-10-07T00:00:00Z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2016-10-07T00:00:00Z</vt:filetime>
  </property>
</Properties>
</file>